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3"/>
  </p:notesMasterIdLst>
  <p:handoutMasterIdLst>
    <p:handoutMasterId r:id="rId24"/>
  </p:handoutMasterIdLst>
  <p:sldIdLst>
    <p:sldId id="319" r:id="rId5"/>
    <p:sldId id="304" r:id="rId6"/>
    <p:sldId id="307" r:id="rId7"/>
    <p:sldId id="281" r:id="rId8"/>
    <p:sldId id="317" r:id="rId9"/>
    <p:sldId id="323" r:id="rId10"/>
    <p:sldId id="324" r:id="rId11"/>
    <p:sldId id="282" r:id="rId12"/>
    <p:sldId id="314" r:id="rId13"/>
    <p:sldId id="318" r:id="rId14"/>
    <p:sldId id="315" r:id="rId15"/>
    <p:sldId id="321" r:id="rId16"/>
    <p:sldId id="326" r:id="rId17"/>
    <p:sldId id="330" r:id="rId18"/>
    <p:sldId id="327" r:id="rId19"/>
    <p:sldId id="328" r:id="rId20"/>
    <p:sldId id="331" r:id="rId21"/>
    <p:sldId id="325" r:id="rId2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p:scale>
          <a:sx n="91" d="100"/>
          <a:sy n="91" d="100"/>
        </p:scale>
        <p:origin x="370"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765F7-5F1D-56A4-FA5B-B112D66B08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AEEBE7-BE88-B114-6B96-D875CA0F420A}"/>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a:extLst>
              <a:ext uri="{FF2B5EF4-FFF2-40B4-BE49-F238E27FC236}">
                <a16:creationId xmlns:a16="http://schemas.microsoft.com/office/drawing/2014/main" id="{277A0024-92B4-3DE5-987F-8AB7897ED186}"/>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5888003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A0709-39FD-5BFD-6A7A-6E6266E9D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88BB4D-C1C5-295F-9E3D-B8B88F0519F0}"/>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a:extLst>
              <a:ext uri="{FF2B5EF4-FFF2-40B4-BE49-F238E27FC236}">
                <a16:creationId xmlns:a16="http://schemas.microsoft.com/office/drawing/2014/main" id="{242B2705-1231-C8AD-14B9-55BDE1B603F9}"/>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2716201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E9D72-98A9-A1F3-616D-F1E426817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00968A-29D9-8093-0A88-FD4B025912E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a:extLst>
              <a:ext uri="{FF2B5EF4-FFF2-40B4-BE49-F238E27FC236}">
                <a16:creationId xmlns:a16="http://schemas.microsoft.com/office/drawing/2014/main" id="{B9FA3DAF-FA21-799F-04B0-71442481B18F}"/>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388250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8C45A-CBB3-E300-B9C7-70DDCA0B9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375A4-611B-B655-6A88-001B767671EF}"/>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txBody>
          <a:bodyPr/>
          <a:lstStyle/>
          <a:p>
            <a:endParaRPr lang="en-IN" dirty="0"/>
          </a:p>
        </p:txBody>
      </p:sp>
      <p:sp>
        <p:nvSpPr>
          <p:cNvPr id="3" name="Notes Placeholder 2">
            <a:extLst>
              <a:ext uri="{FF2B5EF4-FFF2-40B4-BE49-F238E27FC236}">
                <a16:creationId xmlns:a16="http://schemas.microsoft.com/office/drawing/2014/main" id="{582356E9-6F02-40D7-A566-EBA933CD28A7}"/>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433681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dirty="0"/>
              <a:t>Click icon to add picture</a:t>
            </a:r>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46590" y="0"/>
            <a:ext cx="9632688" cy="1191973"/>
          </a:xfrm>
        </p:spPr>
        <p:txBody>
          <a:bodyPr/>
          <a:lstStyle/>
          <a:p>
            <a:pPr algn="ctr"/>
            <a:r>
              <a:rPr lang="en-US" sz="2400" dirty="0">
                <a:latin typeface="Times New Roman" panose="02020603050405020304" pitchFamily="18" charset="0"/>
                <a:cs typeface="Times New Roman" panose="02020603050405020304" pitchFamily="18" charset="0"/>
              </a:rPr>
              <a:t>Department of computer science &amp; engineering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(data science)</a:t>
            </a:r>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a:off x="2667991" y="1975593"/>
            <a:ext cx="7878571" cy="1229493"/>
          </a:xfrm>
        </p:spPr>
        <p:txBody>
          <a:bodyPr/>
          <a:lstStyle/>
          <a:p>
            <a:pPr algn="ctr"/>
            <a:r>
              <a:rPr lang="en-US" sz="3000" b="1" dirty="0">
                <a:latin typeface="Times New Roman" panose="02020603050405020304" pitchFamily="18" charset="0"/>
                <a:cs typeface="Times New Roman" panose="02020603050405020304" pitchFamily="18" charset="0"/>
              </a:rPr>
              <a:t>AneVita-Smart Anemia Screening System</a:t>
            </a:r>
          </a:p>
        </p:txBody>
      </p:sp>
      <p:cxnSp>
        <p:nvCxnSpPr>
          <p:cNvPr id="9" name="Straight Connector 8">
            <a:extLst>
              <a:ext uri="{FF2B5EF4-FFF2-40B4-BE49-F238E27FC236}">
                <a16:creationId xmlns:a16="http://schemas.microsoft.com/office/drawing/2014/main" id="{315BE386-BC47-D020-7D81-208865508773}"/>
              </a:ext>
            </a:extLst>
          </p:cNvPr>
          <p:cNvCxnSpPr/>
          <p:nvPr/>
        </p:nvCxnSpPr>
        <p:spPr>
          <a:xfrm>
            <a:off x="1641987" y="1278194"/>
            <a:ext cx="9930581" cy="0"/>
          </a:xfrm>
          <a:prstGeom prst="line">
            <a:avLst/>
          </a:prstGeom>
        </p:spPr>
        <p:style>
          <a:lnRef idx="2">
            <a:schemeClr val="accent2"/>
          </a:lnRef>
          <a:fillRef idx="0">
            <a:schemeClr val="accent2"/>
          </a:fillRef>
          <a:effectRef idx="1">
            <a:schemeClr val="accent2"/>
          </a:effectRef>
          <a:fontRef idx="minor">
            <a:schemeClr val="tx1"/>
          </a:fontRef>
        </p:style>
      </p:cxnSp>
      <p:sp>
        <p:nvSpPr>
          <p:cNvPr id="10" name="Oval 9">
            <a:extLst>
              <a:ext uri="{FF2B5EF4-FFF2-40B4-BE49-F238E27FC236}">
                <a16:creationId xmlns:a16="http://schemas.microsoft.com/office/drawing/2014/main" id="{6B9718CF-AB40-FDB8-54FA-EF1709DDA6FE}"/>
              </a:ext>
            </a:extLst>
          </p:cNvPr>
          <p:cNvSpPr/>
          <p:nvPr/>
        </p:nvSpPr>
        <p:spPr>
          <a:xfrm>
            <a:off x="1546590" y="1235083"/>
            <a:ext cx="95398" cy="862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Oval 10">
            <a:extLst>
              <a:ext uri="{FF2B5EF4-FFF2-40B4-BE49-F238E27FC236}">
                <a16:creationId xmlns:a16="http://schemas.microsoft.com/office/drawing/2014/main" id="{8C328089-E426-FFE5-8EAB-2C650B6E0BC6}"/>
              </a:ext>
            </a:extLst>
          </p:cNvPr>
          <p:cNvSpPr/>
          <p:nvPr/>
        </p:nvSpPr>
        <p:spPr>
          <a:xfrm>
            <a:off x="11513047" y="1235082"/>
            <a:ext cx="95398" cy="8622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FD1EE6CD-216C-5000-5747-05481C4D7988}"/>
              </a:ext>
            </a:extLst>
          </p:cNvPr>
          <p:cNvSpPr txBox="1"/>
          <p:nvPr/>
        </p:nvSpPr>
        <p:spPr>
          <a:xfrm>
            <a:off x="550606" y="4699819"/>
            <a:ext cx="5171768" cy="1938992"/>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Batch No: 16</a:t>
            </a:r>
          </a:p>
          <a:p>
            <a:r>
              <a:rPr lang="en-IN" sz="2400" dirty="0">
                <a:latin typeface="Times New Roman" panose="02020603050405020304" pitchFamily="18" charset="0"/>
                <a:cs typeface="Times New Roman" panose="02020603050405020304" pitchFamily="18" charset="0"/>
              </a:rPr>
              <a:t>P. Vishnu Vardhini(Y22CD143)</a:t>
            </a:r>
          </a:p>
          <a:p>
            <a:r>
              <a:rPr lang="en-IN" sz="2400" dirty="0">
                <a:latin typeface="Times New Roman" panose="02020603050405020304" pitchFamily="18" charset="0"/>
                <a:cs typeface="Times New Roman" panose="02020603050405020304" pitchFamily="18" charset="0"/>
              </a:rPr>
              <a:t>R. Asritha Brahma Saini(Y22CD148)</a:t>
            </a:r>
          </a:p>
          <a:p>
            <a:r>
              <a:rPr lang="en-IN" sz="2400" dirty="0">
                <a:latin typeface="Times New Roman" panose="02020603050405020304" pitchFamily="18" charset="0"/>
                <a:cs typeface="Times New Roman" panose="02020603050405020304" pitchFamily="18" charset="0"/>
              </a:rPr>
              <a:t>Sk. Zaibunnisa(L23CD212</a:t>
            </a:r>
          </a:p>
          <a:p>
            <a:endParaRPr lang="en-IN" sz="24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005292E-45F3-6BE8-8D1F-1DFEB2944334}"/>
              </a:ext>
            </a:extLst>
          </p:cNvPr>
          <p:cNvSpPr txBox="1"/>
          <p:nvPr/>
        </p:nvSpPr>
        <p:spPr>
          <a:xfrm>
            <a:off x="8465574" y="4699819"/>
            <a:ext cx="3726426" cy="1200329"/>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Guided By:</a:t>
            </a:r>
          </a:p>
          <a:p>
            <a:r>
              <a:rPr lang="en-IN" sz="2400" dirty="0">
                <a:latin typeface="Times New Roman" panose="02020603050405020304" pitchFamily="18" charset="0"/>
                <a:cs typeface="Times New Roman" panose="02020603050405020304" pitchFamily="18" charset="0"/>
              </a:rPr>
              <a:t>Mrs.Swathi Nelavalli</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999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2340078" y="510816"/>
            <a:ext cx="5692877" cy="765678"/>
          </a:xfrm>
        </p:spPr>
        <p:txBody>
          <a:bodyPr/>
          <a:lstStyle/>
          <a:p>
            <a:pPr algn="ctr"/>
            <a:r>
              <a:rPr lang="en-US" sz="3000"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1081549" y="1825327"/>
            <a:ext cx="7257108" cy="4105689"/>
          </a:xfrm>
        </p:spPr>
        <p:txBody>
          <a:bodyPr>
            <a:normAutofit fontScale="85000" lnSpcReduction="20000"/>
          </a:bodyPr>
          <a:lstStyle/>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Problem statement</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Abstract</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Literature Review</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Dataset &amp; Database Design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Methodology</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Implementation</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Applications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Results</a:t>
            </a:r>
          </a:p>
          <a:p>
            <a:pPr marL="342900" indent="-3429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Conclusion</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3598000" y="393290"/>
            <a:ext cx="5723586" cy="963256"/>
          </a:xfrm>
        </p:spPr>
        <p:txBody>
          <a:bodyPr/>
          <a:lstStyle/>
          <a:p>
            <a:r>
              <a:rPr lang="en-US" sz="3000" dirty="0">
                <a:latin typeface="Times New Roman" panose="02020603050405020304" pitchFamily="18" charset="0"/>
                <a:cs typeface="Times New Roman" panose="02020603050405020304" pitchFamily="18" charset="0"/>
              </a:rPr>
              <a:t>Problem statment</a:t>
            </a:r>
          </a:p>
        </p:txBody>
      </p:sp>
      <p:sp>
        <p:nvSpPr>
          <p:cNvPr id="8" name="TextBox 7">
            <a:extLst>
              <a:ext uri="{FF2B5EF4-FFF2-40B4-BE49-F238E27FC236}">
                <a16:creationId xmlns:a16="http://schemas.microsoft.com/office/drawing/2014/main" id="{429CFAF7-D3EA-03CD-EBCB-1E655B3FA9D5}"/>
              </a:ext>
            </a:extLst>
          </p:cNvPr>
          <p:cNvSpPr txBox="1"/>
          <p:nvPr/>
        </p:nvSpPr>
        <p:spPr>
          <a:xfrm>
            <a:off x="443345" y="1818968"/>
            <a:ext cx="11267768" cy="2246769"/>
          </a:xfrm>
          <a:prstGeom prst="rect">
            <a:avLst/>
          </a:prstGeom>
          <a:noFill/>
        </p:spPr>
        <p:txBody>
          <a:bodyPr wrap="square" rtlCol="0">
            <a:spAutoFit/>
          </a:bodyPr>
          <a:lstStyle/>
          <a:p>
            <a:pPr algn="just"/>
            <a:r>
              <a:rPr lang="en-IN" sz="2000" dirty="0">
                <a:solidFill>
                  <a:schemeClr val="accent6"/>
                </a:solidFill>
                <a:latin typeface="Times New Roman" panose="02020603050405020304" pitchFamily="18" charset="0"/>
                <a:cs typeface="Times New Roman" panose="02020603050405020304" pitchFamily="18" charset="0"/>
              </a:rPr>
              <a:t>Manual examination of peripheral blood smear images is the primary method used to detect Iron Deficiency Anemia (IDA) and Thalassemia (THL), but this process is slow, subjective, and heavily dependent on expert hematologists. Subtle variations in red blood cell morphology often lead to inconsistent interpretations and misdiagnosis. In many healthcare settings, especially resource-limited areas, the lack of trained specialists further delays accurate screening. There is a clear need for a faster, more reliable, and standardized diagnostic approach that can accurately differentiate IDA and THL from microscopic blood smear images.</a:t>
            </a:r>
          </a:p>
          <a:p>
            <a:pPr algn="just"/>
            <a:endParaRPr lang="en-IN" sz="2000" dirty="0">
              <a:solidFill>
                <a:schemeClr val="accent6"/>
              </a:solidFill>
            </a:endParaRP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3352800" y="483840"/>
            <a:ext cx="5259554" cy="710780"/>
          </a:xfrm>
        </p:spPr>
        <p:txBody>
          <a:bodyPr/>
          <a:lstStyle/>
          <a:p>
            <a:pPr algn="ctr"/>
            <a:r>
              <a:rPr lang="en-US" sz="3000" dirty="0">
                <a:latin typeface="Times New Roman" panose="02020603050405020304" pitchFamily="18" charset="0"/>
                <a:cs typeface="Times New Roman" panose="02020603050405020304" pitchFamily="18" charset="0"/>
              </a:rPr>
              <a:t>Abstract</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629264" y="1743976"/>
            <a:ext cx="10933471" cy="3919404"/>
          </a:xfrm>
        </p:spPr>
        <p:txBody>
          <a:bodyPr>
            <a:noAutofit/>
          </a:bodyPr>
          <a:lstStyle/>
          <a:p>
            <a:pPr algn="just"/>
            <a:r>
              <a:rPr lang="en-US" sz="2000" dirty="0">
                <a:latin typeface="Times New Roman" panose="02020603050405020304" pitchFamily="18" charset="0"/>
                <a:cs typeface="Times New Roman" panose="02020603050405020304" pitchFamily="18" charset="0"/>
              </a:rPr>
              <a:t>An AI-powered screening system is developed to automatically detect Iron Deficiency Anemia (IDA) and Thalassemia (THL) from peripheral blood smear images. Advanced deep learning models such as EfficientNetV2S and ResNet50 are used to analyze red blood cell morphology and perform accurate classification. A hybrid decision mechanism combines patch-level predictions to generate a reliable patient-level diagnosis. Explainability tools like Grad-CAM highlight important regions contributing to the model’s output, ensuring transparency and clinical confidence. The system provides a fast, accurate, and cost-effective solution for improving hematological screening, especially in resource-limited environments.</a:t>
            </a:r>
            <a:endParaRPr lang="en-IN" sz="2000" dirty="0">
              <a:latin typeface="Times New Roman" panose="02020603050405020304" pitchFamily="18" charset="0"/>
              <a:cs typeface="Times New Roman" panose="02020603050405020304" pitchFamily="18" charset="0"/>
            </a:endParaRPr>
          </a:p>
          <a:p>
            <a:endParaRPr lang="en-US" sz="2000" dirty="0"/>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2517058" y="127882"/>
            <a:ext cx="6922853" cy="1012785"/>
          </a:xfrm>
        </p:spPr>
        <p:txBody>
          <a:bodyPr/>
          <a:lstStyle/>
          <a:p>
            <a:r>
              <a:rPr lang="en-US" sz="3000" dirty="0">
                <a:latin typeface="Times New Roman" panose="02020603050405020304" pitchFamily="18" charset="0"/>
                <a:cs typeface="Times New Roman" panose="02020603050405020304" pitchFamily="18" charset="0"/>
              </a:rPr>
              <a:t>Literature review</a:t>
            </a:r>
          </a:p>
        </p:txBody>
      </p:sp>
      <p:graphicFrame>
        <p:nvGraphicFramePr>
          <p:cNvPr id="12" name="Content Placeholder 11">
            <a:extLst>
              <a:ext uri="{FF2B5EF4-FFF2-40B4-BE49-F238E27FC236}">
                <a16:creationId xmlns:a16="http://schemas.microsoft.com/office/drawing/2014/main" id="{03F0FE2E-7369-38C9-F840-AA3A7F946CA3}"/>
              </a:ext>
            </a:extLst>
          </p:cNvPr>
          <p:cNvGraphicFramePr>
            <a:graphicFrameLocks noGrp="1"/>
          </p:cNvGraphicFramePr>
          <p:nvPr>
            <p:ph sz="quarter" idx="4"/>
            <p:extLst>
              <p:ext uri="{D42A27DB-BD31-4B8C-83A1-F6EECF244321}">
                <p14:modId xmlns:p14="http://schemas.microsoft.com/office/powerpoint/2010/main" val="2976549326"/>
              </p:ext>
            </p:extLst>
          </p:nvPr>
        </p:nvGraphicFramePr>
        <p:xfrm>
          <a:off x="914400" y="1396181"/>
          <a:ext cx="10510835" cy="5102294"/>
        </p:xfrm>
        <a:graphic>
          <a:graphicData uri="http://schemas.openxmlformats.org/drawingml/2006/table">
            <a:tbl>
              <a:tblPr firstRow="1">
                <a:tableStyleId>{D7AC3CCA-C797-4891-BE02-D94E43425B78}</a:tableStyleId>
              </a:tblPr>
              <a:tblGrid>
                <a:gridCol w="2102167">
                  <a:extLst>
                    <a:ext uri="{9D8B030D-6E8A-4147-A177-3AD203B41FA5}">
                      <a16:colId xmlns:a16="http://schemas.microsoft.com/office/drawing/2014/main" val="3142312623"/>
                    </a:ext>
                  </a:extLst>
                </a:gridCol>
                <a:gridCol w="2102167">
                  <a:extLst>
                    <a:ext uri="{9D8B030D-6E8A-4147-A177-3AD203B41FA5}">
                      <a16:colId xmlns:a16="http://schemas.microsoft.com/office/drawing/2014/main" val="2542423652"/>
                    </a:ext>
                  </a:extLst>
                </a:gridCol>
                <a:gridCol w="2102167">
                  <a:extLst>
                    <a:ext uri="{9D8B030D-6E8A-4147-A177-3AD203B41FA5}">
                      <a16:colId xmlns:a16="http://schemas.microsoft.com/office/drawing/2014/main" val="1512127146"/>
                    </a:ext>
                  </a:extLst>
                </a:gridCol>
                <a:gridCol w="2102167">
                  <a:extLst>
                    <a:ext uri="{9D8B030D-6E8A-4147-A177-3AD203B41FA5}">
                      <a16:colId xmlns:a16="http://schemas.microsoft.com/office/drawing/2014/main" val="3738158894"/>
                    </a:ext>
                  </a:extLst>
                </a:gridCol>
                <a:gridCol w="2102167">
                  <a:extLst>
                    <a:ext uri="{9D8B030D-6E8A-4147-A177-3AD203B41FA5}">
                      <a16:colId xmlns:a16="http://schemas.microsoft.com/office/drawing/2014/main" val="1436711792"/>
                    </a:ext>
                  </a:extLst>
                </a:gridCol>
              </a:tblGrid>
              <a:tr h="481780">
                <a:tc>
                  <a:txBody>
                    <a:bodyPr/>
                    <a:lstStyle/>
                    <a:p>
                      <a:r>
                        <a:rPr lang="en-IN" dirty="0"/>
                        <a:t>Author(s)</a:t>
                      </a:r>
                    </a:p>
                  </a:txBody>
                  <a:tcPr/>
                </a:tc>
                <a:tc>
                  <a:txBody>
                    <a:bodyPr/>
                    <a:lstStyle/>
                    <a:p>
                      <a:r>
                        <a:rPr lang="en-IN" dirty="0"/>
                        <a:t>Technique</a:t>
                      </a:r>
                    </a:p>
                  </a:txBody>
                  <a:tcPr/>
                </a:tc>
                <a:tc>
                  <a:txBody>
                    <a:bodyPr/>
                    <a:lstStyle/>
                    <a:p>
                      <a:r>
                        <a:rPr lang="en-IN" dirty="0"/>
                        <a:t>Applications</a:t>
                      </a:r>
                    </a:p>
                  </a:txBody>
                  <a:tcPr/>
                </a:tc>
                <a:tc>
                  <a:txBody>
                    <a:bodyPr/>
                    <a:lstStyle/>
                    <a:p>
                      <a:r>
                        <a:rPr lang="en-IN" dirty="0"/>
                        <a:t>Key Features</a:t>
                      </a:r>
                    </a:p>
                  </a:txBody>
                  <a:tcPr/>
                </a:tc>
                <a:tc>
                  <a:txBody>
                    <a:bodyPr/>
                    <a:lstStyle/>
                    <a:p>
                      <a:r>
                        <a:rPr lang="en-IN" dirty="0"/>
                        <a:t>Outcomes</a:t>
                      </a:r>
                    </a:p>
                  </a:txBody>
                  <a:tcPr/>
                </a:tc>
                <a:extLst>
                  <a:ext uri="{0D108BD9-81ED-4DB2-BD59-A6C34878D82A}">
                    <a16:rowId xmlns:a16="http://schemas.microsoft.com/office/drawing/2014/main" val="176975490"/>
                  </a:ext>
                </a:extLst>
              </a:tr>
              <a:tr h="755679">
                <a:tc>
                  <a:txBody>
                    <a:bodyPr/>
                    <a:lstStyle/>
                    <a:p>
                      <a:r>
                        <a:rPr lang="en-IN" dirty="0">
                          <a:latin typeface="Times New Roman" panose="02020603050405020304" pitchFamily="18" charset="0"/>
                          <a:cs typeface="Times New Roman" panose="02020603050405020304" pitchFamily="18" charset="0"/>
                        </a:rPr>
                        <a:t>Smith et al(2017)</a:t>
                      </a:r>
                    </a:p>
                  </a:txBody>
                  <a:tcPr/>
                </a:tc>
                <a:tc>
                  <a:txBody>
                    <a:bodyPr/>
                    <a:lstStyle/>
                    <a:p>
                      <a:r>
                        <a:rPr lang="en-IN" dirty="0">
                          <a:latin typeface="Times New Roman" panose="02020603050405020304" pitchFamily="18" charset="0"/>
                          <a:cs typeface="Times New Roman" panose="02020603050405020304" pitchFamily="18" charset="0"/>
                        </a:rPr>
                        <a:t>Machine learning </a:t>
                      </a:r>
                    </a:p>
                    <a:p>
                      <a:r>
                        <a:rPr lang="en-IN" dirty="0">
                          <a:latin typeface="Times New Roman" panose="02020603050405020304" pitchFamily="18" charset="0"/>
                          <a:cs typeface="Times New Roman" panose="02020603050405020304" pitchFamily="18" charset="0"/>
                        </a:rPr>
                        <a:t>With optical scattering</a:t>
                      </a:r>
                    </a:p>
                  </a:txBody>
                  <a:tcPr/>
                </a:tc>
                <a:tc>
                  <a:txBody>
                    <a:bodyPr/>
                    <a:lstStyle/>
                    <a:p>
                      <a:r>
                        <a:rPr lang="en-IN" dirty="0">
                          <a:latin typeface="Times New Roman" panose="02020603050405020304" pitchFamily="18" charset="0"/>
                          <a:cs typeface="Times New Roman" panose="02020603050405020304" pitchFamily="18" charset="0"/>
                        </a:rPr>
                        <a:t>Anemia detection </a:t>
                      </a:r>
                    </a:p>
                  </a:txBody>
                  <a:tcPr/>
                </a:tc>
                <a:tc>
                  <a:txBody>
                    <a:bodyPr/>
                    <a:lstStyle/>
                    <a:p>
                      <a:r>
                        <a:rPr lang="en-IN" dirty="0">
                          <a:latin typeface="Times New Roman" panose="02020603050405020304" pitchFamily="18" charset="0"/>
                          <a:cs typeface="Times New Roman" panose="02020603050405020304" pitchFamily="18" charset="0"/>
                        </a:rPr>
                        <a:t>Uses optical scattering patterns, ML classifiers</a:t>
                      </a:r>
                    </a:p>
                  </a:txBody>
                  <a:tcPr/>
                </a:tc>
                <a:tc>
                  <a:txBody>
                    <a:bodyPr/>
                    <a:lstStyle/>
                    <a:p>
                      <a:r>
                        <a:rPr lang="en-IN" dirty="0">
                          <a:latin typeface="Times New Roman" panose="02020603050405020304" pitchFamily="18" charset="0"/>
                          <a:cs typeface="Times New Roman" panose="02020603050405020304" pitchFamily="18" charset="0"/>
                        </a:rPr>
                        <a:t>Enabled anemia detection but lacked patientlevel probability refinement</a:t>
                      </a:r>
                    </a:p>
                  </a:txBody>
                  <a:tcPr/>
                </a:tc>
                <a:extLst>
                  <a:ext uri="{0D108BD9-81ED-4DB2-BD59-A6C34878D82A}">
                    <a16:rowId xmlns:a16="http://schemas.microsoft.com/office/drawing/2014/main" val="2108400450"/>
                  </a:ext>
                </a:extLst>
              </a:tr>
              <a:tr h="755679">
                <a:tc>
                  <a:txBody>
                    <a:bodyPr/>
                    <a:lstStyle/>
                    <a:p>
                      <a:r>
                        <a:rPr lang="en-IN" dirty="0">
                          <a:latin typeface="Times New Roman" panose="02020603050405020304" pitchFamily="18" charset="0"/>
                          <a:cs typeface="Times New Roman" panose="02020603050405020304" pitchFamily="18" charset="0"/>
                        </a:rPr>
                        <a:t>Laengsri et al(2018)</a:t>
                      </a:r>
                    </a:p>
                  </a:txBody>
                  <a:tcPr/>
                </a:tc>
                <a:tc>
                  <a:txBody>
                    <a:bodyPr/>
                    <a:lstStyle/>
                    <a:p>
                      <a:r>
                        <a:rPr lang="en-IN" dirty="0">
                          <a:latin typeface="Times New Roman" panose="02020603050405020304" pitchFamily="18" charset="0"/>
                          <a:cs typeface="Times New Roman" panose="02020603050405020304" pitchFamily="18" charset="0"/>
                        </a:rPr>
                        <a:t>Thalpred webbased ML classifer</a:t>
                      </a:r>
                    </a:p>
                  </a:txBody>
                  <a:tcPr/>
                </a:tc>
                <a:tc>
                  <a:txBody>
                    <a:bodyPr/>
                    <a:lstStyle/>
                    <a:p>
                      <a:r>
                        <a:rPr lang="en-IN" dirty="0">
                          <a:latin typeface="Times New Roman" panose="02020603050405020304" pitchFamily="18" charset="0"/>
                          <a:cs typeface="Times New Roman" panose="02020603050405020304" pitchFamily="18" charset="0"/>
                        </a:rPr>
                        <a:t>IDA vs Thalassemia</a:t>
                      </a:r>
                    </a:p>
                    <a:p>
                      <a:r>
                        <a:rPr lang="en-IN" dirty="0">
                          <a:latin typeface="Times New Roman" panose="02020603050405020304" pitchFamily="18" charset="0"/>
                          <a:cs typeface="Times New Roman" panose="02020603050405020304" pitchFamily="18" charset="0"/>
                        </a:rPr>
                        <a:t>Classification</a:t>
                      </a:r>
                    </a:p>
                  </a:txBody>
                  <a:tcPr/>
                </a:tc>
                <a:tc>
                  <a:txBody>
                    <a:bodyPr/>
                    <a:lstStyle/>
                    <a:p>
                      <a:r>
                        <a:rPr lang="en-IN" dirty="0">
                          <a:latin typeface="Times New Roman" panose="02020603050405020304" pitchFamily="18" charset="0"/>
                          <a:cs typeface="Times New Roman" panose="02020603050405020304" pitchFamily="18" charset="0"/>
                        </a:rPr>
                        <a:t>Uses structured blood indices,web- based tool</a:t>
                      </a:r>
                    </a:p>
                  </a:txBody>
                  <a:tcPr/>
                </a:tc>
                <a:tc>
                  <a:txBody>
                    <a:bodyPr/>
                    <a:lstStyle/>
                    <a:p>
                      <a:r>
                        <a:rPr lang="en-IN" dirty="0">
                          <a:latin typeface="Times New Roman" panose="02020603050405020304" pitchFamily="18" charset="0"/>
                          <a:cs typeface="Times New Roman" panose="02020603050405020304" pitchFamily="18" charset="0"/>
                        </a:rPr>
                        <a:t>No statistical thresholding;</a:t>
                      </a:r>
                    </a:p>
                    <a:p>
                      <a:r>
                        <a:rPr lang="en-IN" dirty="0">
                          <a:latin typeface="Times New Roman" panose="02020603050405020304" pitchFamily="18" charset="0"/>
                          <a:cs typeface="Times New Roman" panose="02020603050405020304" pitchFamily="18" charset="0"/>
                        </a:rPr>
                        <a:t>Limited interpretability </a:t>
                      </a:r>
                    </a:p>
                  </a:txBody>
                  <a:tcPr/>
                </a:tc>
                <a:extLst>
                  <a:ext uri="{0D108BD9-81ED-4DB2-BD59-A6C34878D82A}">
                    <a16:rowId xmlns:a16="http://schemas.microsoft.com/office/drawing/2014/main" val="3283089769"/>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Fu et al (2018)</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Support Vector Machine (SVM)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Thalassemia screening </a:t>
                      </a:r>
                    </a:p>
                  </a:txBody>
                  <a:tcPr marL="68580" marR="42545" marT="2540" marB="0"/>
                </a:tc>
                <a:tc>
                  <a:txBody>
                    <a:bodyPr/>
                    <a:lstStyle/>
                    <a:p>
                      <a:pPr marL="137160" marR="12700" indent="-6350" algn="just">
                        <a:lnSpc>
                          <a:spcPct val="99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Uses RBC indices and clinical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parameters </a:t>
                      </a:r>
                    </a:p>
                  </a:txBody>
                  <a:tcPr marL="68580" marR="42545" marT="2540" marB="0"/>
                </a:tc>
                <a:tc>
                  <a:txBody>
                    <a:bodyPr/>
                    <a:lstStyle/>
                    <a:p>
                      <a:pPr marL="635" marR="1397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Good accuracy but no hybrid decision strategy </a:t>
                      </a:r>
                    </a:p>
                  </a:txBody>
                  <a:tcPr marL="68580" marR="42545" marT="2540" marB="0"/>
                </a:tc>
                <a:extLst>
                  <a:ext uri="{0D108BD9-81ED-4DB2-BD59-A6C34878D82A}">
                    <a16:rowId xmlns:a16="http://schemas.microsoft.com/office/drawing/2014/main" val="3691656570"/>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Phirom et al (2019)</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Deep Learning (ANN)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Thalassemia classification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Neural network using hematological parameters </a:t>
                      </a:r>
                    </a:p>
                  </a:txBody>
                  <a:tcPr marL="68580" marR="42545" marT="2540" marB="0"/>
                </a:tc>
                <a:tc>
                  <a:txBody>
                    <a:bodyPr/>
                    <a:lstStyle/>
                    <a:p>
                      <a:pPr marL="635" marR="22225"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Lacked explainability and patientlevel optimization </a:t>
                      </a:r>
                    </a:p>
                  </a:txBody>
                  <a:tcPr marL="68580" marR="42545" marT="2540" marB="0"/>
                </a:tc>
                <a:extLst>
                  <a:ext uri="{0D108BD9-81ED-4DB2-BD59-A6C34878D82A}">
                    <a16:rowId xmlns:a16="http://schemas.microsoft.com/office/drawing/2014/main" val="2824752823"/>
                  </a:ext>
                </a:extLst>
              </a:tr>
            </a:tbl>
          </a:graphicData>
        </a:graphic>
      </p:graphicFrame>
    </p:spTree>
    <p:extLst>
      <p:ext uri="{BB962C8B-B14F-4D97-AF65-F5344CB8AC3E}">
        <p14:creationId xmlns:p14="http://schemas.microsoft.com/office/powerpoint/2010/main" val="1941619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7DFCB-E5D2-F15A-C1C5-E2049158FF9F}"/>
            </a:ext>
          </a:extLst>
        </p:cNvPr>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CE5E0FA2-1DCE-95B1-5887-D6818CDFBBBE}"/>
              </a:ext>
            </a:extLst>
          </p:cNvPr>
          <p:cNvGraphicFramePr>
            <a:graphicFrameLocks noGrp="1"/>
          </p:cNvGraphicFramePr>
          <p:nvPr>
            <p:ph sz="quarter" idx="4"/>
            <p:extLst>
              <p:ext uri="{D42A27DB-BD31-4B8C-83A1-F6EECF244321}">
                <p14:modId xmlns:p14="http://schemas.microsoft.com/office/powerpoint/2010/main" val="1597459067"/>
              </p:ext>
            </p:extLst>
          </p:nvPr>
        </p:nvGraphicFramePr>
        <p:xfrm>
          <a:off x="840582" y="1130710"/>
          <a:ext cx="10510835" cy="5169085"/>
        </p:xfrm>
        <a:graphic>
          <a:graphicData uri="http://schemas.openxmlformats.org/drawingml/2006/table">
            <a:tbl>
              <a:tblPr firstRow="1">
                <a:tableStyleId>{D7AC3CCA-C797-4891-BE02-D94E43425B78}</a:tableStyleId>
              </a:tblPr>
              <a:tblGrid>
                <a:gridCol w="2102167">
                  <a:extLst>
                    <a:ext uri="{9D8B030D-6E8A-4147-A177-3AD203B41FA5}">
                      <a16:colId xmlns:a16="http://schemas.microsoft.com/office/drawing/2014/main" val="3142312623"/>
                    </a:ext>
                  </a:extLst>
                </a:gridCol>
                <a:gridCol w="2102167">
                  <a:extLst>
                    <a:ext uri="{9D8B030D-6E8A-4147-A177-3AD203B41FA5}">
                      <a16:colId xmlns:a16="http://schemas.microsoft.com/office/drawing/2014/main" val="2542423652"/>
                    </a:ext>
                  </a:extLst>
                </a:gridCol>
                <a:gridCol w="2102167">
                  <a:extLst>
                    <a:ext uri="{9D8B030D-6E8A-4147-A177-3AD203B41FA5}">
                      <a16:colId xmlns:a16="http://schemas.microsoft.com/office/drawing/2014/main" val="1512127146"/>
                    </a:ext>
                  </a:extLst>
                </a:gridCol>
                <a:gridCol w="2102167">
                  <a:extLst>
                    <a:ext uri="{9D8B030D-6E8A-4147-A177-3AD203B41FA5}">
                      <a16:colId xmlns:a16="http://schemas.microsoft.com/office/drawing/2014/main" val="3738158894"/>
                    </a:ext>
                  </a:extLst>
                </a:gridCol>
                <a:gridCol w="2102167">
                  <a:extLst>
                    <a:ext uri="{9D8B030D-6E8A-4147-A177-3AD203B41FA5}">
                      <a16:colId xmlns:a16="http://schemas.microsoft.com/office/drawing/2014/main" val="1436711792"/>
                    </a:ext>
                  </a:extLst>
                </a:gridCol>
              </a:tblGrid>
              <a:tr h="717754">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Khorwanichakij </a:t>
                      </a:r>
                    </a:p>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et al (2019)</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Formula-based Scoring Model </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IDA and THL differentiation </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Rule-based classification using RBC parameters </a:t>
                      </a:r>
                    </a:p>
                  </a:txBody>
                  <a:tcPr marL="68580" marR="42545" marT="2540" marB="0"/>
                </a:tc>
                <a:tc>
                  <a:txBody>
                    <a:bodyPr/>
                    <a:lstStyle/>
                    <a:p>
                      <a:pPr marL="635" marR="2032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 soft voting or probabilistic decision support </a:t>
                      </a:r>
                    </a:p>
                  </a:txBody>
                  <a:tcPr marL="68580" marR="42545" marT="2540" marB="0"/>
                </a:tc>
                <a:extLst>
                  <a:ext uri="{0D108BD9-81ED-4DB2-BD59-A6C34878D82A}">
                    <a16:rowId xmlns:a16="http://schemas.microsoft.com/office/drawing/2014/main" val="176975490"/>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Taware et al</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(2021)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Ensemble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Machine Learning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Anemia detection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Combines multiple ML classifiers </a:t>
                      </a:r>
                    </a:p>
                  </a:txBody>
                  <a:tcPr marL="68580" marR="42545" marT="2540" marB="0"/>
                </a:tc>
                <a:tc>
                  <a:txBody>
                    <a:bodyPr/>
                    <a:lstStyle/>
                    <a:p>
                      <a:pPr marL="635"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High accuracy but poor interpretability </a:t>
                      </a:r>
                    </a:p>
                  </a:txBody>
                  <a:tcPr marL="68580" marR="42545" marT="2540" marB="0"/>
                </a:tc>
                <a:extLst>
                  <a:ext uri="{0D108BD9-81ED-4DB2-BD59-A6C34878D82A}">
                    <a16:rowId xmlns:a16="http://schemas.microsoft.com/office/drawing/2014/main" val="2108400450"/>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Saputra et al</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(2022)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Ensemble Learning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Thalassemia screening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Aggregated ML models for prediction </a:t>
                      </a:r>
                    </a:p>
                  </a:txBody>
                  <a:tcPr marL="68580" marR="42545" marT="2540" marB="0"/>
                </a:tc>
                <a:tc>
                  <a:txBody>
                    <a:bodyPr/>
                    <a:lstStyle/>
                    <a:p>
                      <a:pPr marL="635"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No explainable AI or clinicallevel thresholding </a:t>
                      </a:r>
                    </a:p>
                  </a:txBody>
                  <a:tcPr marL="68580" marR="42545" marT="2540" marB="0"/>
                </a:tc>
                <a:extLst>
                  <a:ext uri="{0D108BD9-81ED-4DB2-BD59-A6C34878D82A}">
                    <a16:rowId xmlns:a16="http://schemas.microsoft.com/office/drawing/2014/main" val="3283089769"/>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Garduno-Rapp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et al (2022)</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Neural Networks with EHR Data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IDA prediction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Uses electronic health records </a:t>
                      </a:r>
                    </a:p>
                  </a:txBody>
                  <a:tcPr marL="68580" marR="42545" marT="2540" marB="0"/>
                </a:tc>
                <a:tc>
                  <a:txBody>
                    <a:bodyPr/>
                    <a:lstStyle/>
                    <a:p>
                      <a:pPr marL="635"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Focused on IDA only, not THL </a:t>
                      </a:r>
                    </a:p>
                  </a:txBody>
                  <a:tcPr marL="68580" marR="42545" marT="2540" marB="0"/>
                </a:tc>
                <a:extLst>
                  <a:ext uri="{0D108BD9-81ED-4DB2-BD59-A6C34878D82A}">
                    <a16:rowId xmlns:a16="http://schemas.microsoft.com/office/drawing/2014/main" val="3691656570"/>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Zaylaa et al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Deep Learning +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Transfer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Learning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MRI-based THL diagnosis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MRI segmentation, CNN-based model </a:t>
                      </a:r>
                    </a:p>
                  </a:txBody>
                  <a:tcPr marL="68580" marR="42545" marT="2540" marB="0"/>
                </a:tc>
                <a:tc>
                  <a:txBody>
                    <a:bodyPr/>
                    <a:lstStyle/>
                    <a:p>
                      <a:pPr marL="635"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88% accuracy; not suitable for blood smear screening </a:t>
                      </a:r>
                    </a:p>
                  </a:txBody>
                  <a:tcPr marL="68580" marR="42545" marT="2540" marB="0"/>
                </a:tc>
                <a:extLst>
                  <a:ext uri="{0D108BD9-81ED-4DB2-BD59-A6C34878D82A}">
                    <a16:rowId xmlns:a16="http://schemas.microsoft.com/office/drawing/2014/main" val="2824752823"/>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Lian et al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(2023)</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Deep Learning Segmentation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Myocardial iron overload (THL)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Dice score optimization, MRI images </a:t>
                      </a:r>
                    </a:p>
                  </a:txBody>
                  <a:tcPr marL="68580" marR="42545" marT="2540" marB="0"/>
                </a:tc>
                <a:tc>
                  <a:txBody>
                    <a:bodyPr/>
                    <a:lstStyle/>
                    <a:p>
                      <a:pPr marL="635"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Effective for iron overload but not blood smear classification </a:t>
                      </a:r>
                    </a:p>
                  </a:txBody>
                  <a:tcPr marL="68580" marR="42545" marT="2540" marB="0"/>
                </a:tc>
                <a:extLst>
                  <a:ext uri="{0D108BD9-81ED-4DB2-BD59-A6C34878D82A}">
                    <a16:rowId xmlns:a16="http://schemas.microsoft.com/office/drawing/2014/main" val="4047556210"/>
                  </a:ext>
                </a:extLst>
              </a:tr>
            </a:tbl>
          </a:graphicData>
        </a:graphic>
      </p:graphicFrame>
    </p:spTree>
    <p:extLst>
      <p:ext uri="{BB962C8B-B14F-4D97-AF65-F5344CB8AC3E}">
        <p14:creationId xmlns:p14="http://schemas.microsoft.com/office/powerpoint/2010/main" val="1123282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8118-348C-F7B8-E383-81E99C816067}"/>
            </a:ext>
          </a:extLst>
        </p:cNvPr>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22DC018D-7CEB-AE71-2326-F0C23859D9DE}"/>
              </a:ext>
            </a:extLst>
          </p:cNvPr>
          <p:cNvGraphicFramePr>
            <a:graphicFrameLocks noGrp="1"/>
          </p:cNvGraphicFramePr>
          <p:nvPr>
            <p:ph sz="quarter" idx="4"/>
            <p:extLst>
              <p:ext uri="{D42A27DB-BD31-4B8C-83A1-F6EECF244321}">
                <p14:modId xmlns:p14="http://schemas.microsoft.com/office/powerpoint/2010/main" val="1240159300"/>
              </p:ext>
            </p:extLst>
          </p:nvPr>
        </p:nvGraphicFramePr>
        <p:xfrm>
          <a:off x="757084" y="1248697"/>
          <a:ext cx="10510835" cy="4245229"/>
        </p:xfrm>
        <a:graphic>
          <a:graphicData uri="http://schemas.openxmlformats.org/drawingml/2006/table">
            <a:tbl>
              <a:tblPr firstRow="1">
                <a:tableStyleId>{D7AC3CCA-C797-4891-BE02-D94E43425B78}</a:tableStyleId>
              </a:tblPr>
              <a:tblGrid>
                <a:gridCol w="2102167">
                  <a:extLst>
                    <a:ext uri="{9D8B030D-6E8A-4147-A177-3AD203B41FA5}">
                      <a16:colId xmlns:a16="http://schemas.microsoft.com/office/drawing/2014/main" val="3142312623"/>
                    </a:ext>
                  </a:extLst>
                </a:gridCol>
                <a:gridCol w="2102167">
                  <a:extLst>
                    <a:ext uri="{9D8B030D-6E8A-4147-A177-3AD203B41FA5}">
                      <a16:colId xmlns:a16="http://schemas.microsoft.com/office/drawing/2014/main" val="2542423652"/>
                    </a:ext>
                  </a:extLst>
                </a:gridCol>
                <a:gridCol w="2102167">
                  <a:extLst>
                    <a:ext uri="{9D8B030D-6E8A-4147-A177-3AD203B41FA5}">
                      <a16:colId xmlns:a16="http://schemas.microsoft.com/office/drawing/2014/main" val="1512127146"/>
                    </a:ext>
                  </a:extLst>
                </a:gridCol>
                <a:gridCol w="2102167">
                  <a:extLst>
                    <a:ext uri="{9D8B030D-6E8A-4147-A177-3AD203B41FA5}">
                      <a16:colId xmlns:a16="http://schemas.microsoft.com/office/drawing/2014/main" val="3738158894"/>
                    </a:ext>
                  </a:extLst>
                </a:gridCol>
                <a:gridCol w="2102167">
                  <a:extLst>
                    <a:ext uri="{9D8B030D-6E8A-4147-A177-3AD203B41FA5}">
                      <a16:colId xmlns:a16="http://schemas.microsoft.com/office/drawing/2014/main" val="1436711792"/>
                    </a:ext>
                  </a:extLst>
                </a:gridCol>
              </a:tblGrid>
              <a:tr h="717754">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Wiratchawa et al</a:t>
                      </a:r>
                    </a:p>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(2023) </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CNN + Vision </a:t>
                      </a:r>
                    </a:p>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Transformer </a:t>
                      </a:r>
                    </a:p>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(ThalNet) </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Blood smear image classification </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EfficientNet-B7, ViT, patch-level learning </a:t>
                      </a:r>
                    </a:p>
                  </a:txBody>
                  <a:tcPr marL="68580" marR="42545" marT="2540" marB="0"/>
                </a:tc>
                <a:tc>
                  <a:txBody>
                    <a:bodyPr/>
                    <a:lstStyle/>
                    <a:p>
                      <a:pPr marL="635"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86% accuracy; no patient-level hybrid thresholding </a:t>
                      </a:r>
                    </a:p>
                  </a:txBody>
                  <a:tcPr marL="68580" marR="42545" marT="2540" marB="0"/>
                </a:tc>
                <a:extLst>
                  <a:ext uri="{0D108BD9-81ED-4DB2-BD59-A6C34878D82A}">
                    <a16:rowId xmlns:a16="http://schemas.microsoft.com/office/drawing/2014/main" val="2684092970"/>
                  </a:ext>
                </a:extLst>
              </a:tr>
              <a:tr h="717754">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Yadav et al </a:t>
                      </a:r>
                    </a:p>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(2024)</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Hybrid AI (ML + </a:t>
                      </a:r>
                    </a:p>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DL + Bayesian </a:t>
                      </a:r>
                    </a:p>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Networks) </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Smartphonebased anemia screening </a:t>
                      </a:r>
                    </a:p>
                  </a:txBody>
                  <a:tcPr marL="68580" marR="42545" marT="2540" marB="0"/>
                </a:tc>
                <a:tc>
                  <a:txBody>
                    <a:bodyPr/>
                    <a:lstStyle/>
                    <a:p>
                      <a:pPr marL="137160"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Combines CBC, hemoglobin images, ML &amp; CV </a:t>
                      </a:r>
                    </a:p>
                  </a:txBody>
                  <a:tcPr marL="68580" marR="42545" marT="2540" marB="0"/>
                </a:tc>
                <a:tc>
                  <a:txBody>
                    <a:bodyPr/>
                    <a:lstStyle/>
                    <a:p>
                      <a:pPr marL="635" marR="12700" indent="-6350" algn="just">
                        <a:lnSpc>
                          <a:spcPct val="98000"/>
                        </a:lnSpc>
                        <a:spcAft>
                          <a:spcPts val="555"/>
                        </a:spcAft>
                        <a:buNone/>
                      </a:pPr>
                      <a:r>
                        <a:rPr lang="en-IN" sz="1800" b="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Lacks probabilitybased thresholding </a:t>
                      </a:r>
                    </a:p>
                  </a:txBody>
                  <a:tcPr marL="68580" marR="42545" marT="2540" marB="0"/>
                </a:tc>
                <a:extLst>
                  <a:ext uri="{0D108BD9-81ED-4DB2-BD59-A6C34878D82A}">
                    <a16:rowId xmlns:a16="http://schemas.microsoft.com/office/drawing/2014/main" val="176975490"/>
                  </a:ext>
                </a:extLst>
              </a:tr>
              <a:tr h="755679">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Damkliang et al</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(2025) </a:t>
                      </a:r>
                    </a:p>
                  </a:txBody>
                  <a:tcPr marL="68580" marR="42545" marT="2540" marB="0"/>
                </a:tc>
                <a:tc>
                  <a:txBody>
                    <a:bodyPr/>
                    <a:lstStyle/>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Hybrid Deep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Learning + Soft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Voting +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Bayesian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Analysis </a:t>
                      </a:r>
                    </a:p>
                  </a:txBody>
                  <a:tcPr marL="68580" marR="42545" marT="2540" marB="0"/>
                </a:tc>
                <a:tc>
                  <a:txBody>
                    <a:bodyPr/>
                    <a:lstStyle/>
                    <a:p>
                      <a:pPr marL="137160" marR="56515"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Clinical screening of IDA and THL </a:t>
                      </a:r>
                    </a:p>
                  </a:txBody>
                  <a:tcPr marL="68580" marR="42545" marT="2540" marB="0"/>
                </a:tc>
                <a:tc>
                  <a:txBody>
                    <a:bodyPr/>
                    <a:lstStyle/>
                    <a:p>
                      <a:pPr marL="137160" marR="12700" indent="-6350" algn="just">
                        <a:lnSpc>
                          <a:spcPct val="99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Patch &amp; patientlevel classification, </a:t>
                      </a:r>
                    </a:p>
                    <a:p>
                      <a:pPr marL="137160"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SHAP, GradCAM, optimized thresholds </a:t>
                      </a:r>
                    </a:p>
                  </a:txBody>
                  <a:tcPr marL="68580" marR="42545" marT="2540" marB="0"/>
                </a:tc>
                <a:tc>
                  <a:txBody>
                    <a:bodyPr/>
                    <a:lstStyle/>
                    <a:p>
                      <a:pPr marL="635" marR="12700" indent="-6350" algn="just">
                        <a:lnSpc>
                          <a:spcPct val="99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Achieved 96% accuracy, high sensitivity, interpretable, but limited to single-center </a:t>
                      </a:r>
                    </a:p>
                    <a:p>
                      <a:pPr marL="635"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dataset </a:t>
                      </a:r>
                    </a:p>
                    <a:p>
                      <a:pPr marL="635" marR="12700" indent="-6350" algn="just">
                        <a:lnSpc>
                          <a:spcPct val="98000"/>
                        </a:lnSpc>
                        <a:spcAft>
                          <a:spcPts val="555"/>
                        </a:spcAft>
                        <a:buNone/>
                      </a:pPr>
                      <a:r>
                        <a:rPr lang="en-IN" sz="18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p>
                  </a:txBody>
                  <a:tcPr marL="68580" marR="42545" marT="2540" marB="0"/>
                </a:tc>
                <a:extLst>
                  <a:ext uri="{0D108BD9-81ED-4DB2-BD59-A6C34878D82A}">
                    <a16:rowId xmlns:a16="http://schemas.microsoft.com/office/drawing/2014/main" val="2108400450"/>
                  </a:ext>
                </a:extLst>
              </a:tr>
            </a:tbl>
          </a:graphicData>
        </a:graphic>
      </p:graphicFrame>
    </p:spTree>
    <p:extLst>
      <p:ext uri="{BB962C8B-B14F-4D97-AF65-F5344CB8AC3E}">
        <p14:creationId xmlns:p14="http://schemas.microsoft.com/office/powerpoint/2010/main" val="3848817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4679765" y="41165"/>
            <a:ext cx="4434739" cy="994164"/>
          </a:xfrm>
        </p:spPr>
        <p:txBody>
          <a:bodyPr/>
          <a:lstStyle/>
          <a:p>
            <a:pPr algn="ctr"/>
            <a:r>
              <a:rPr lang="en-US" sz="3000" dirty="0">
                <a:latin typeface="Times New Roman" panose="02020603050405020304" pitchFamily="18" charset="0"/>
                <a:cs typeface="Times New Roman" panose="02020603050405020304" pitchFamily="18" charset="0"/>
              </a:rPr>
              <a:t>design</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1764782"/>
            <a:ext cx="7965460" cy="4554971"/>
          </a:xfrm>
        </p:spPr>
        <p:txBody>
          <a:bodyPr>
            <a:noAutofit/>
          </a:bodyPr>
          <a:lstStyle/>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Existing Design</a:t>
            </a:r>
          </a:p>
          <a:p>
            <a:pPr marL="0" indent="0">
              <a:buNone/>
            </a:pPr>
            <a:r>
              <a:rPr lang="en-US" sz="2000" b="1" dirty="0">
                <a:latin typeface="Times New Roman" panose="02020603050405020304" pitchFamily="18" charset="0"/>
                <a:cs typeface="Times New Roman" panose="02020603050405020304" pitchFamily="18" charset="0"/>
              </a:rPr>
              <a:t>Manual Microscopy with Basic Machine Learning</a:t>
            </a:r>
            <a:endParaRPr lang="en-IN"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This work identifies Iron Deficiency Anemia (IDA) and Thalassemia (THL) using manual microscopy and basic machine learning, but it is time-consuming, expert-dependent, and lacks automation and decision support.</a:t>
            </a:r>
          </a:p>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Proposed Design</a:t>
            </a:r>
          </a:p>
          <a:p>
            <a:pPr marL="0" indent="0">
              <a:buNone/>
            </a:pPr>
            <a:r>
              <a:rPr lang="en-IN" sz="2000" b="1" dirty="0">
                <a:latin typeface="Times New Roman" panose="02020603050405020304" pitchFamily="18" charset="0"/>
                <a:cs typeface="Times New Roman" panose="02020603050405020304" pitchFamily="18" charset="0"/>
              </a:rPr>
              <a:t>AI-Based Deep Learning using EfficientNet</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The proposed system uses an AI-based EfficientNet model to automatically classify Iron Deficiency Anemia (IDA) and Thalassemia (THL) from peripheral blood smear images. It eliminates manual feature extraction, generates patient-level diagnosis, and integrates a Streamlit interface for automated and reliable clinical decision support.</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68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Content Placeholder 21">
            <a:extLst>
              <a:ext uri="{FF2B5EF4-FFF2-40B4-BE49-F238E27FC236}">
                <a16:creationId xmlns:a16="http://schemas.microsoft.com/office/drawing/2014/main" id="{48556BD6-61E6-9861-9C2A-E05435C7A131}"/>
              </a:ext>
            </a:extLst>
          </p:cNvPr>
          <p:cNvPicPr>
            <a:picLocks noGrp="1" noChangeAspect="1"/>
          </p:cNvPicPr>
          <p:nvPr>
            <p:ph sz="half" idx="1"/>
          </p:nvPr>
        </p:nvPicPr>
        <p:blipFill>
          <a:blip r:embed="rId3">
            <a:extLst>
              <a:ext uri="{BEBA8EAE-BF5A-486C-A8C5-ECC9F3942E4B}">
                <a14:imgProps xmlns:a14="http://schemas.microsoft.com/office/drawing/2010/main">
                  <a14:imgLayer r:embed="rId4">
                    <a14:imgEffect>
                      <a14:colorTemperature colorTemp="7200"/>
                    </a14:imgEffect>
                  </a14:imgLayer>
                </a14:imgProps>
              </a:ext>
            </a:extLst>
          </a:blip>
          <a:stretch>
            <a:fillRect/>
          </a:stretch>
        </p:blipFill>
        <p:spPr>
          <a:xfrm>
            <a:off x="3205317" y="737419"/>
            <a:ext cx="7468726" cy="5257663"/>
          </a:xfrm>
          <a:prstGeom prst="rect">
            <a:avLst/>
          </a:prstGeom>
        </p:spPr>
      </p:pic>
    </p:spTree>
    <p:extLst>
      <p:ext uri="{BB962C8B-B14F-4D97-AF65-F5344CB8AC3E}">
        <p14:creationId xmlns:p14="http://schemas.microsoft.com/office/powerpoint/2010/main" val="11317180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86E785D-8C26-77F0-9DE9-839C1A5FB438}"/>
              </a:ext>
            </a:extLst>
          </p:cNvPr>
          <p:cNvPicPr/>
          <p:nvPr/>
        </p:nvPicPr>
        <p:blipFill>
          <a:blip r:embed="rId3"/>
          <a:stretch>
            <a:fillRect/>
          </a:stretch>
        </p:blipFill>
        <p:spPr>
          <a:xfrm>
            <a:off x="3216165" y="677917"/>
            <a:ext cx="5194738" cy="5328745"/>
          </a:xfrm>
          <a:prstGeom prst="rect">
            <a:avLst/>
          </a:prstGeom>
        </p:spPr>
      </p:pic>
    </p:spTree>
    <p:extLst>
      <p:ext uri="{BB962C8B-B14F-4D97-AF65-F5344CB8AC3E}">
        <p14:creationId xmlns:p14="http://schemas.microsoft.com/office/powerpoint/2010/main" val="40721017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A90CD92E-D575-C018-41E7-328967C9F414}"/>
              </a:ext>
            </a:extLst>
          </p:cNvPr>
          <p:cNvSpPr>
            <a:spLocks noGrp="1" noChangeArrowheads="1"/>
          </p:cNvSpPr>
          <p:nvPr>
            <p:ph sz="half" idx="2"/>
          </p:nvPr>
        </p:nvSpPr>
        <p:spPr bwMode="auto">
          <a:xfrm>
            <a:off x="1378258" y="1688359"/>
            <a:ext cx="6403733" cy="2580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Dataset Name</a:t>
            </a:r>
          </a:p>
          <a:p>
            <a:r>
              <a:rPr lang="en-IN" sz="2000" b="1" dirty="0">
                <a:latin typeface="Times New Roman" panose="02020603050405020304" pitchFamily="18" charset="0"/>
                <a:cs typeface="Times New Roman" panose="02020603050405020304" pitchFamily="18" charset="0"/>
              </a:rPr>
              <a:t>IDA-THL-Dataset-Phase-I</a:t>
            </a:r>
          </a:p>
          <a:p>
            <a:pPr>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Total Images</a:t>
            </a:r>
          </a:p>
          <a:p>
            <a:r>
              <a:rPr lang="en-US" sz="2000" dirty="0">
                <a:latin typeface="Times New Roman" panose="02020603050405020304" pitchFamily="18" charset="0"/>
                <a:cs typeface="Times New Roman" panose="02020603050405020304" pitchFamily="18" charset="0"/>
              </a:rPr>
              <a:t>6,299 Peripheral Blood Smear Images</a:t>
            </a:r>
          </a:p>
          <a:p>
            <a:r>
              <a:rPr lang="en-US" sz="2000" dirty="0">
                <a:latin typeface="Times New Roman" panose="02020603050405020304" pitchFamily="18" charset="0"/>
                <a:cs typeface="Times New Roman" panose="02020603050405020304" pitchFamily="18" charset="0"/>
              </a:rPr>
              <a:t>Total Dataset Size: </a:t>
            </a:r>
            <a:r>
              <a:rPr lang="en-US" sz="2000" b="1" dirty="0">
                <a:latin typeface="Times New Roman" panose="02020603050405020304" pitchFamily="18" charset="0"/>
                <a:cs typeface="Times New Roman" panose="02020603050405020304" pitchFamily="18" charset="0"/>
              </a:rPr>
              <a:t>525 MB</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D6BA9F9E-935F-1C21-B17C-F0C71EDE9C82}"/>
              </a:ext>
            </a:extLst>
          </p:cNvPr>
          <p:cNvGraphicFramePr>
            <a:graphicFrameLocks noGrp="1"/>
          </p:cNvGraphicFramePr>
          <p:nvPr>
            <p:extLst>
              <p:ext uri="{D42A27DB-BD31-4B8C-83A1-F6EECF244321}">
                <p14:modId xmlns:p14="http://schemas.microsoft.com/office/powerpoint/2010/main" val="2807329487"/>
              </p:ext>
            </p:extLst>
          </p:nvPr>
        </p:nvGraphicFramePr>
        <p:xfrm>
          <a:off x="1799304" y="4543666"/>
          <a:ext cx="9547123" cy="1463040"/>
        </p:xfrm>
        <a:graphic>
          <a:graphicData uri="http://schemas.openxmlformats.org/drawingml/2006/table">
            <a:tbl>
              <a:tblPr>
                <a:tableStyleId>{E8B1032C-EA38-4F05-BA0D-38AFFFC7BED3}</a:tableStyleId>
              </a:tblPr>
              <a:tblGrid>
                <a:gridCol w="2615381">
                  <a:extLst>
                    <a:ext uri="{9D8B030D-6E8A-4147-A177-3AD203B41FA5}">
                      <a16:colId xmlns:a16="http://schemas.microsoft.com/office/drawing/2014/main" val="871216652"/>
                    </a:ext>
                  </a:extLst>
                </a:gridCol>
                <a:gridCol w="4342581">
                  <a:extLst>
                    <a:ext uri="{9D8B030D-6E8A-4147-A177-3AD203B41FA5}">
                      <a16:colId xmlns:a16="http://schemas.microsoft.com/office/drawing/2014/main" val="1157786407"/>
                    </a:ext>
                  </a:extLst>
                </a:gridCol>
                <a:gridCol w="2589161">
                  <a:extLst>
                    <a:ext uri="{9D8B030D-6E8A-4147-A177-3AD203B41FA5}">
                      <a16:colId xmlns:a16="http://schemas.microsoft.com/office/drawing/2014/main" val="1036446178"/>
                    </a:ext>
                  </a:extLst>
                </a:gridCol>
              </a:tblGrid>
              <a:tr h="0">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Class Label</a:t>
                      </a:r>
                    </a:p>
                  </a:txBody>
                  <a:tcPr anchor="ctr"/>
                </a:tc>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Category</a:t>
                      </a:r>
                    </a:p>
                  </a:txBody>
                  <a:tcPr anchor="ctr"/>
                </a:tc>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Number of Images</a:t>
                      </a:r>
                    </a:p>
                  </a:txBody>
                  <a:tcPr anchor="ctr"/>
                </a:tc>
                <a:extLst>
                  <a:ext uri="{0D108BD9-81ED-4DB2-BD59-A6C34878D82A}">
                    <a16:rowId xmlns:a16="http://schemas.microsoft.com/office/drawing/2014/main" val="56532899"/>
                  </a:ext>
                </a:extLst>
              </a:tr>
              <a:tr h="0">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0</a:t>
                      </a:r>
                    </a:p>
                  </a:txBody>
                  <a:tcPr anchor="ctr"/>
                </a:tc>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THL (Thalassemia)</a:t>
                      </a:r>
                    </a:p>
                  </a:txBody>
                  <a:tcPr anchor="ctr"/>
                </a:tc>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2,328</a:t>
                      </a:r>
                    </a:p>
                  </a:txBody>
                  <a:tcPr anchor="ctr"/>
                </a:tc>
                <a:extLst>
                  <a:ext uri="{0D108BD9-81ED-4DB2-BD59-A6C34878D82A}">
                    <a16:rowId xmlns:a16="http://schemas.microsoft.com/office/drawing/2014/main" val="2656770290"/>
                  </a:ext>
                </a:extLst>
              </a:tr>
              <a:tr h="0">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1</a:t>
                      </a:r>
                    </a:p>
                  </a:txBody>
                  <a:tcPr anchor="ctr"/>
                </a:tc>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IDA (Iron Deficiency Anemia)</a:t>
                      </a:r>
                    </a:p>
                  </a:txBody>
                  <a:tcPr anchor="ctr"/>
                </a:tc>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3,971</a:t>
                      </a:r>
                    </a:p>
                  </a:txBody>
                  <a:tcPr anchor="ctr"/>
                </a:tc>
                <a:extLst>
                  <a:ext uri="{0D108BD9-81ED-4DB2-BD59-A6C34878D82A}">
                    <a16:rowId xmlns:a16="http://schemas.microsoft.com/office/drawing/2014/main" val="623787506"/>
                  </a:ext>
                </a:extLst>
              </a:tr>
              <a:tr h="0">
                <a:tc>
                  <a:txBody>
                    <a:bodyPr/>
                    <a:lstStyle/>
                    <a:p>
                      <a:pPr>
                        <a:buNone/>
                      </a:pPr>
                      <a:r>
                        <a:rPr lang="en-IN" b="1" dirty="0">
                          <a:solidFill>
                            <a:srgbClr val="202C8F"/>
                          </a:solidFill>
                          <a:latin typeface="Times New Roman" panose="02020603050405020304" pitchFamily="18" charset="0"/>
                          <a:cs typeface="Times New Roman" panose="02020603050405020304" pitchFamily="18" charset="0"/>
                        </a:rPr>
                        <a:t>Total</a:t>
                      </a:r>
                      <a:endParaRPr lang="en-IN" dirty="0">
                        <a:solidFill>
                          <a:srgbClr val="202C8F"/>
                        </a:solidFill>
                        <a:latin typeface="Times New Roman" panose="02020603050405020304" pitchFamily="18" charset="0"/>
                        <a:cs typeface="Times New Roman" panose="02020603050405020304" pitchFamily="18" charset="0"/>
                      </a:endParaRPr>
                    </a:p>
                  </a:txBody>
                  <a:tcPr anchor="ctr"/>
                </a:tc>
                <a:tc>
                  <a:txBody>
                    <a:bodyPr/>
                    <a:lstStyle/>
                    <a:p>
                      <a:pPr>
                        <a:buNone/>
                      </a:pPr>
                      <a:r>
                        <a:rPr lang="en-IN" dirty="0">
                          <a:solidFill>
                            <a:srgbClr val="202C8F"/>
                          </a:solidFill>
                          <a:latin typeface="Times New Roman" panose="02020603050405020304" pitchFamily="18" charset="0"/>
                          <a:cs typeface="Times New Roman" panose="02020603050405020304" pitchFamily="18" charset="0"/>
                        </a:rPr>
                        <a:t>—</a:t>
                      </a:r>
                    </a:p>
                  </a:txBody>
                  <a:tcPr anchor="ctr"/>
                </a:tc>
                <a:tc>
                  <a:txBody>
                    <a:bodyPr/>
                    <a:lstStyle/>
                    <a:p>
                      <a:pPr>
                        <a:buNone/>
                      </a:pPr>
                      <a:r>
                        <a:rPr lang="en-IN" b="1" dirty="0">
                          <a:solidFill>
                            <a:srgbClr val="202C8F"/>
                          </a:solidFill>
                          <a:latin typeface="Times New Roman" panose="02020603050405020304" pitchFamily="18" charset="0"/>
                          <a:cs typeface="Times New Roman" panose="02020603050405020304" pitchFamily="18" charset="0"/>
                        </a:rPr>
                        <a:t>6,299</a:t>
                      </a:r>
                      <a:endParaRPr lang="en-IN" dirty="0">
                        <a:solidFill>
                          <a:srgbClr val="202C8F"/>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52173986"/>
                  </a:ext>
                </a:extLst>
              </a:tr>
            </a:tbl>
          </a:graphicData>
        </a:graphic>
      </p:graphicFrame>
      <p:sp>
        <p:nvSpPr>
          <p:cNvPr id="8" name="Rectangle 3">
            <a:extLst>
              <a:ext uri="{FF2B5EF4-FFF2-40B4-BE49-F238E27FC236}">
                <a16:creationId xmlns:a16="http://schemas.microsoft.com/office/drawing/2014/main" id="{9F708592-9136-4FF3-1395-C3B5FBEB04CA}"/>
              </a:ext>
            </a:extLst>
          </p:cNvPr>
          <p:cNvSpPr>
            <a:spLocks noChangeArrowheads="1"/>
          </p:cNvSpPr>
          <p:nvPr/>
        </p:nvSpPr>
        <p:spPr bwMode="auto">
          <a:xfrm>
            <a:off x="1378258" y="3927014"/>
            <a:ext cx="45448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b="1" i="0" u="none" strike="noStrike" cap="none" normalizeH="0" baseline="0" dirty="0">
                <a:ln>
                  <a:noFill/>
                </a:ln>
                <a:solidFill>
                  <a:srgbClr val="202C8F"/>
                </a:solidFill>
                <a:effectLst/>
                <a:latin typeface="Times New Roman" panose="02020603050405020304" pitchFamily="18" charset="0"/>
                <a:cs typeface="Times New Roman" panose="02020603050405020304" pitchFamily="18" charset="0"/>
              </a:rPr>
              <a:t>Class Distribution (Binary Classification)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202C8F"/>
              </a:solidFill>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F6DB7962-669C-CEBA-784E-2BE1A089302F}"/>
              </a:ext>
            </a:extLst>
          </p:cNvPr>
          <p:cNvSpPr txBox="1"/>
          <p:nvPr/>
        </p:nvSpPr>
        <p:spPr>
          <a:xfrm>
            <a:off x="2944762" y="766916"/>
            <a:ext cx="7256206" cy="553998"/>
          </a:xfrm>
          <a:prstGeom prst="rect">
            <a:avLst/>
          </a:prstGeom>
          <a:noFill/>
        </p:spPr>
        <p:txBody>
          <a:bodyPr wrap="square" rtlCol="0">
            <a:spAutoFit/>
          </a:bodyPr>
          <a:lstStyle/>
          <a:p>
            <a:pPr algn="ctr"/>
            <a:r>
              <a:rPr lang="en-IN" sz="3000" b="1" dirty="0">
                <a:solidFill>
                  <a:srgbClr val="202C8F"/>
                </a:solidFill>
                <a:latin typeface="Times New Roman" panose="02020603050405020304" pitchFamily="18" charset="0"/>
                <a:cs typeface="Times New Roman" panose="02020603050405020304" pitchFamily="18" charset="0"/>
              </a:rPr>
              <a:t>DATA SET &amp; DATABASE DESIGN</a:t>
            </a:r>
          </a:p>
        </p:txBody>
      </p:sp>
    </p:spTree>
    <p:extLst>
      <p:ext uri="{BB962C8B-B14F-4D97-AF65-F5344CB8AC3E}">
        <p14:creationId xmlns:p14="http://schemas.microsoft.com/office/powerpoint/2010/main" val="2468595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158268" y="768764"/>
            <a:ext cx="9875463" cy="999746"/>
          </a:xfrm>
        </p:spPr>
        <p:txBody>
          <a:bodyPr/>
          <a:lstStyle/>
          <a:p>
            <a:pPr algn="ctr"/>
            <a:r>
              <a:rPr lang="en-US" sz="3000" dirty="0">
                <a:latin typeface="Times New Roman" panose="02020603050405020304" pitchFamily="18" charset="0"/>
                <a:cs typeface="Times New Roman" panose="02020603050405020304" pitchFamily="18" charset="0"/>
              </a:rPr>
              <a:t>methodology</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1179549" y="2070049"/>
            <a:ext cx="10153756" cy="3961593"/>
          </a:xfrm>
        </p:spPr>
        <p:txBody>
          <a:bodyPr>
            <a:noAutofit/>
          </a:bodyPr>
          <a:lstStyle/>
          <a:p>
            <a:pPr algn="just"/>
            <a:r>
              <a:rPr lang="en-US" sz="2000" dirty="0">
                <a:latin typeface="Times New Roman" panose="02020603050405020304" pitchFamily="18" charset="0"/>
                <a:cs typeface="Times New Roman" panose="02020603050405020304" pitchFamily="18" charset="0"/>
              </a:rPr>
              <a:t>Identifying Iron Deficiency Anemia and Thalassemia using blood smear images and deep learning. Images were collected from different sources and cleaned using basic preprocessing steps like resizing, normalization, and noise removal. To improve the model performance, data augmentation techniques such as rotation and flipping were applied. The images were divided into smaller parts (patches) to analyze them in detail. A pre-trained CNN model was used to extract features and classify the images into the two conditions. The results from all patches were combined to give a final patient-level prediction. The model was evaluated using accuracy, precision, recall, and F1-score. Grad-CAM was used to highlight important areas in the images, making the results easier to understand. This system helps doctors by providing support for faster and more accurate diagnosis.</a:t>
            </a:r>
          </a:p>
        </p:txBody>
      </p:sp>
    </p:spTree>
    <p:extLst>
      <p:ext uri="{BB962C8B-B14F-4D97-AF65-F5344CB8AC3E}">
        <p14:creationId xmlns:p14="http://schemas.microsoft.com/office/powerpoint/2010/main" val="249802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887FD-EBDF-E845-EC8E-9714C6E35C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D0C7D01-AD68-0CCF-2943-96ECAB232F32}"/>
              </a:ext>
            </a:extLst>
          </p:cNvPr>
          <p:cNvSpPr>
            <a:spLocks noGrp="1"/>
          </p:cNvSpPr>
          <p:nvPr>
            <p:ph type="title"/>
          </p:nvPr>
        </p:nvSpPr>
        <p:spPr>
          <a:xfrm>
            <a:off x="840186" y="761289"/>
            <a:ext cx="10511627" cy="1012785"/>
          </a:xfrm>
        </p:spPr>
        <p:txBody>
          <a:bodyPr/>
          <a:lstStyle/>
          <a:p>
            <a:pPr algn="ctr"/>
            <a:r>
              <a:rPr lang="en-US" sz="3000" dirty="0">
                <a:latin typeface="Times New Roman" panose="02020603050405020304" pitchFamily="18" charset="0"/>
                <a:cs typeface="Times New Roman" panose="02020603050405020304" pitchFamily="18" charset="0"/>
              </a:rPr>
              <a:t>Implementation</a:t>
            </a:r>
          </a:p>
        </p:txBody>
      </p:sp>
      <p:sp>
        <p:nvSpPr>
          <p:cNvPr id="12" name="Content Placeholder 3">
            <a:extLst>
              <a:ext uri="{FF2B5EF4-FFF2-40B4-BE49-F238E27FC236}">
                <a16:creationId xmlns:a16="http://schemas.microsoft.com/office/drawing/2014/main" id="{B9B7B895-7D75-9EE2-2B85-3A11BD42240B}"/>
              </a:ext>
            </a:extLst>
          </p:cNvPr>
          <p:cNvSpPr>
            <a:spLocks noGrp="1"/>
          </p:cNvSpPr>
          <p:nvPr>
            <p:ph sz="quarter" idx="4"/>
          </p:nvPr>
        </p:nvSpPr>
        <p:spPr>
          <a:xfrm>
            <a:off x="652912" y="2044832"/>
            <a:ext cx="10511627" cy="4655004"/>
          </a:xfrm>
        </p:spPr>
        <p:txBody>
          <a:bodyPr>
            <a:noAutofit/>
          </a:bodyPr>
          <a:lstStyle/>
          <a:p>
            <a:pPr algn="just"/>
            <a:r>
              <a:rPr lang="en-US" sz="2000" dirty="0">
                <a:latin typeface="Times New Roman" panose="02020603050405020304" pitchFamily="18" charset="0"/>
                <a:cs typeface="Times New Roman" panose="02020603050405020304" pitchFamily="18" charset="0"/>
              </a:rPr>
              <a:t>Deep learning system to automatically classify Iron Deficiency Anemia and Thalassemia from blood smear images. The images are first cleaned and standardized using preprocessing techniques like resizing and normalization, and then improved with data augmentation to make the model more reliable. Each image is divided into smaller patches to capture detailed cell features. A pre-trained CNN model is used to learn important patterns and classify the images. The predictions from all patches are combined to give a final patient-level diagnosis. The model is evaluated using standard metrics, and Grad-CAM is used to highlight important regions in the images, making the results easier to understand. This system helps provide faster, accurate, and interpretable support for medical diagnosis.</a:t>
            </a:r>
          </a:p>
        </p:txBody>
      </p:sp>
    </p:spTree>
    <p:extLst>
      <p:ext uri="{BB962C8B-B14F-4D97-AF65-F5344CB8AC3E}">
        <p14:creationId xmlns:p14="http://schemas.microsoft.com/office/powerpoint/2010/main" val="3188484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18711-A402-6FD7-02AC-3415817D00AA}"/>
              </a:ext>
            </a:extLst>
          </p:cNvPr>
          <p:cNvSpPr>
            <a:spLocks noGrp="1"/>
          </p:cNvSpPr>
          <p:nvPr>
            <p:ph type="title"/>
          </p:nvPr>
        </p:nvSpPr>
        <p:spPr>
          <a:xfrm>
            <a:off x="704675" y="528506"/>
            <a:ext cx="10511406" cy="1937857"/>
          </a:xfrm>
        </p:spPr>
        <p:txBody>
          <a:bodyPr/>
          <a:lstStyle/>
          <a:p>
            <a:r>
              <a:rPr lang="en-US" sz="2800" dirty="0">
                <a:latin typeface="Times New Roman" panose="02020603050405020304" pitchFamily="18" charset="0"/>
                <a:cs typeface="Times New Roman" panose="02020603050405020304" pitchFamily="18" charset="0"/>
              </a:rPr>
              <a:t>                                         Applications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559F491-6DDB-CCD4-B25F-68ECD79CFA75}"/>
              </a:ext>
            </a:extLst>
          </p:cNvPr>
          <p:cNvSpPr txBox="1"/>
          <p:nvPr/>
        </p:nvSpPr>
        <p:spPr>
          <a:xfrm>
            <a:off x="2055302" y="2525086"/>
            <a:ext cx="6761527" cy="1754326"/>
          </a:xfrm>
          <a:prstGeom prst="rect">
            <a:avLst/>
          </a:prstGeom>
          <a:noFill/>
        </p:spPr>
        <p:txBody>
          <a:bodyPr wrap="square" rtlCol="0">
            <a:spAutoFit/>
          </a:bodyPr>
          <a:lstStyle/>
          <a:p>
            <a:pPr marL="285750" indent="-285750" algn="just">
              <a:buFont typeface="Arial" panose="020B0604020202020204" pitchFamily="34" charset="0"/>
              <a:buChar char="•"/>
            </a:pPr>
            <a:r>
              <a:rPr lang="en-US" dirty="0">
                <a:solidFill>
                  <a:schemeClr val="accent6"/>
                </a:solidFill>
              </a:rPr>
              <a:t>Hospitals &amp; Clinics</a:t>
            </a:r>
          </a:p>
          <a:p>
            <a:pPr marL="285750" indent="-285750" algn="just">
              <a:buFont typeface="Arial" panose="020B0604020202020204" pitchFamily="34" charset="0"/>
              <a:buChar char="•"/>
            </a:pPr>
            <a:r>
              <a:rPr lang="en-US" dirty="0">
                <a:solidFill>
                  <a:schemeClr val="accent6"/>
                </a:solidFill>
              </a:rPr>
              <a:t>Diagnostics Laboratories</a:t>
            </a:r>
          </a:p>
          <a:p>
            <a:pPr marL="285750" indent="-285750" algn="just">
              <a:buFont typeface="Arial" panose="020B0604020202020204" pitchFamily="34" charset="0"/>
              <a:buChar char="•"/>
            </a:pPr>
            <a:r>
              <a:rPr lang="en-US" dirty="0">
                <a:solidFill>
                  <a:schemeClr val="accent6"/>
                </a:solidFill>
              </a:rPr>
              <a:t>Rural Healthcare Centers</a:t>
            </a:r>
          </a:p>
          <a:p>
            <a:pPr marL="285750" indent="-285750" algn="just">
              <a:buFont typeface="Arial" panose="020B0604020202020204" pitchFamily="34" charset="0"/>
              <a:buChar char="•"/>
            </a:pPr>
            <a:r>
              <a:rPr lang="en-US" dirty="0">
                <a:solidFill>
                  <a:schemeClr val="accent6"/>
                </a:solidFill>
              </a:rPr>
              <a:t>Clinical Decision Support System</a:t>
            </a:r>
          </a:p>
          <a:p>
            <a:pPr marL="285750" indent="-285750" algn="just">
              <a:buFont typeface="Arial" panose="020B0604020202020204" pitchFamily="34" charset="0"/>
              <a:buChar char="•"/>
            </a:pPr>
            <a:r>
              <a:rPr lang="en-US" dirty="0">
                <a:solidFill>
                  <a:schemeClr val="accent6"/>
                </a:solidFill>
              </a:rPr>
              <a:t>AI-Based Medical Platforms</a:t>
            </a:r>
          </a:p>
          <a:p>
            <a:pPr marL="285750" indent="-285750" algn="just">
              <a:buFont typeface="Arial" panose="020B0604020202020204" pitchFamily="34" charset="0"/>
              <a:buChar char="•"/>
            </a:pPr>
            <a:r>
              <a:rPr lang="en-US" dirty="0">
                <a:solidFill>
                  <a:schemeClr val="accent6"/>
                </a:solidFill>
              </a:rPr>
              <a:t>Public Health Screening Programs</a:t>
            </a:r>
            <a:endParaRPr lang="en-IN" dirty="0">
              <a:solidFill>
                <a:schemeClr val="accent6"/>
              </a:solidFill>
            </a:endParaRPr>
          </a:p>
        </p:txBody>
      </p:sp>
    </p:spTree>
    <p:extLst>
      <p:ext uri="{BB962C8B-B14F-4D97-AF65-F5344CB8AC3E}">
        <p14:creationId xmlns:p14="http://schemas.microsoft.com/office/powerpoint/2010/main" val="3597899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388B56-5958-7BFC-E8AA-81BD5A50F967}"/>
              </a:ext>
            </a:extLst>
          </p:cNvPr>
          <p:cNvSpPr>
            <a:spLocks noGrp="1"/>
          </p:cNvSpPr>
          <p:nvPr>
            <p:ph idx="1"/>
          </p:nvPr>
        </p:nvSpPr>
        <p:spPr>
          <a:xfrm>
            <a:off x="4224312" y="1388747"/>
            <a:ext cx="1936263" cy="535276"/>
          </a:xfrm>
        </p:spPr>
        <p:txBody>
          <a:bodyPr>
            <a:normAutofit fontScale="92500" lnSpcReduction="10000"/>
          </a:bodyPr>
          <a:lstStyle/>
          <a:p>
            <a:r>
              <a:rPr lang="en-US" sz="3000" b="1" dirty="0">
                <a:latin typeface="Times New Roman" panose="02020603050405020304" pitchFamily="18" charset="0"/>
                <a:cs typeface="Times New Roman" panose="02020603050405020304" pitchFamily="18" charset="0"/>
              </a:rPr>
              <a:t>RESULTS</a:t>
            </a:r>
            <a:endParaRPr lang="en-IN" sz="3000" b="1" dirty="0">
              <a:latin typeface="Times New Roman" panose="020206030504050203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0AF32214-0F33-5D1B-0593-D1202E9F3854}"/>
              </a:ext>
            </a:extLst>
          </p:cNvPr>
          <p:cNvSpPr>
            <a:spLocks noGrp="1"/>
          </p:cNvSpPr>
          <p:nvPr>
            <p:ph type="title"/>
          </p:nvPr>
        </p:nvSpPr>
        <p:spPr>
          <a:xfrm>
            <a:off x="564143" y="1806136"/>
            <a:ext cx="10235236" cy="968595"/>
          </a:xfrm>
        </p:spPr>
        <p:txBody>
          <a:bodyPr/>
          <a:lstStyle/>
          <a:p>
            <a:pPr marL="285750" indent="-28575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Training Accuracy of Deep Learning–Based Anemia Screening Model</a:t>
            </a:r>
            <a:br>
              <a:rPr lang="en-IN" sz="1800" dirty="0"/>
            </a:br>
            <a:endParaRPr lang="en-IN" sz="1800" dirty="0">
              <a:latin typeface="Times New Roman" panose="02020603050405020304" pitchFamily="18" charset="0"/>
              <a:cs typeface="Times New Roman" panose="02020603050405020304" pitchFamily="18" charset="0"/>
            </a:endParaRPr>
          </a:p>
        </p:txBody>
      </p:sp>
      <p:pic>
        <p:nvPicPr>
          <p:cNvPr id="6" name="table">
            <a:extLst>
              <a:ext uri="{FF2B5EF4-FFF2-40B4-BE49-F238E27FC236}">
                <a16:creationId xmlns:a16="http://schemas.microsoft.com/office/drawing/2014/main" id="{CAD0FAE9-BBB7-F170-2962-3819F88B7EB8}"/>
              </a:ext>
            </a:extLst>
          </p:cNvPr>
          <p:cNvPicPr>
            <a:picLocks noChangeAspect="1"/>
          </p:cNvPicPr>
          <p:nvPr/>
        </p:nvPicPr>
        <p:blipFill>
          <a:blip r:embed="rId2"/>
          <a:stretch>
            <a:fillRect/>
          </a:stretch>
        </p:blipFill>
        <p:spPr>
          <a:xfrm>
            <a:off x="425947" y="3074234"/>
            <a:ext cx="10511627" cy="2018071"/>
          </a:xfrm>
          <a:prstGeom prst="rect">
            <a:avLst/>
          </a:prstGeom>
        </p:spPr>
      </p:pic>
    </p:spTree>
    <p:extLst>
      <p:ext uri="{BB962C8B-B14F-4D97-AF65-F5344CB8AC3E}">
        <p14:creationId xmlns:p14="http://schemas.microsoft.com/office/powerpoint/2010/main" val="37475812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0A5979D-360E-105E-61C1-EA6BE28A6E63}"/>
              </a:ext>
            </a:extLst>
          </p:cNvPr>
          <p:cNvSpPr>
            <a:spLocks noGrp="1"/>
          </p:cNvSpPr>
          <p:nvPr>
            <p:ph type="title"/>
          </p:nvPr>
        </p:nvSpPr>
        <p:spPr>
          <a:xfrm>
            <a:off x="1652628" y="205461"/>
            <a:ext cx="8531605" cy="1329724"/>
          </a:xfrm>
        </p:spPr>
        <p:txBody>
          <a:bodyPr/>
          <a:lstStyle/>
          <a:p>
            <a:r>
              <a:rPr lang="en-US" sz="2800" dirty="0">
                <a:latin typeface="Times New Roman" panose="02020603050405020304" pitchFamily="18" charset="0"/>
                <a:cs typeface="Times New Roman" panose="02020603050405020304" pitchFamily="18" charset="0"/>
              </a:rPr>
              <a:t>Blood smear images detection</a:t>
            </a:r>
          </a:p>
        </p:txBody>
      </p:sp>
      <p:pic>
        <p:nvPicPr>
          <p:cNvPr id="10" name="Picture 9" descr="A close-up of a purple circle&#10;&#10;AI-generated content may be incorrect.">
            <a:extLst>
              <a:ext uri="{FF2B5EF4-FFF2-40B4-BE49-F238E27FC236}">
                <a16:creationId xmlns:a16="http://schemas.microsoft.com/office/drawing/2014/main" id="{07933085-4514-98D5-2768-BCD95CFCA88B}"/>
              </a:ext>
            </a:extLst>
          </p:cNvPr>
          <p:cNvPicPr>
            <a:picLocks noChangeAspect="1"/>
          </p:cNvPicPr>
          <p:nvPr/>
        </p:nvPicPr>
        <p:blipFill>
          <a:blip r:embed="rId2"/>
          <a:srcRect r="1675" b="2"/>
          <a:stretch>
            <a:fillRect/>
          </a:stretch>
        </p:blipFill>
        <p:spPr>
          <a:xfrm>
            <a:off x="1082180" y="2084913"/>
            <a:ext cx="3283119" cy="3720337"/>
          </a:xfrm>
          <a:prstGeom prst="rect">
            <a:avLst/>
          </a:prstGeom>
          <a:noFill/>
        </p:spPr>
      </p:pic>
      <p:pic>
        <p:nvPicPr>
          <p:cNvPr id="3" name="Content Placeholder 2" descr="A purple circle with text overlay&#10;&#10;AI-generated content may be incorrect.">
            <a:extLst>
              <a:ext uri="{FF2B5EF4-FFF2-40B4-BE49-F238E27FC236}">
                <a16:creationId xmlns:a16="http://schemas.microsoft.com/office/drawing/2014/main" id="{079C6781-405C-264E-0147-463FD3EF188D}"/>
              </a:ext>
            </a:extLst>
          </p:cNvPr>
          <p:cNvPicPr>
            <a:picLocks noGrp="1" noChangeAspect="1"/>
          </p:cNvPicPr>
          <p:nvPr>
            <p:ph sz="quarter" idx="4"/>
          </p:nvPr>
        </p:nvPicPr>
        <p:blipFill>
          <a:blip r:embed="rId3"/>
          <a:srcRect r="3765" b="2"/>
          <a:stretch>
            <a:fillRect/>
          </a:stretch>
        </p:blipFill>
        <p:spPr>
          <a:xfrm>
            <a:off x="4907994" y="2084913"/>
            <a:ext cx="3284951" cy="3720337"/>
          </a:xfrm>
          <a:noFill/>
        </p:spPr>
      </p:pic>
    </p:spTree>
    <p:extLst>
      <p:ext uri="{BB962C8B-B14F-4D97-AF65-F5344CB8AC3E}">
        <p14:creationId xmlns:p14="http://schemas.microsoft.com/office/powerpoint/2010/main" val="39954502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307C8-D54E-4185-0D65-3DB5DFF21561}"/>
              </a:ext>
            </a:extLst>
          </p:cNvPr>
          <p:cNvSpPr>
            <a:spLocks noGrp="1"/>
          </p:cNvSpPr>
          <p:nvPr>
            <p:ph type="title"/>
          </p:nvPr>
        </p:nvSpPr>
        <p:spPr>
          <a:xfrm>
            <a:off x="765973" y="579450"/>
            <a:ext cx="10671048" cy="1362057"/>
          </a:xfrm>
        </p:spPr>
        <p:txBody>
          <a:bodyPr/>
          <a:lstStyle/>
          <a:p>
            <a:r>
              <a:rPr lang="en-US" sz="2800" dirty="0">
                <a:latin typeface="Times New Roman" panose="02020603050405020304" pitchFamily="18" charset="0"/>
                <a:cs typeface="Times New Roman" panose="02020603050405020304" pitchFamily="18" charset="0"/>
              </a:rPr>
              <a:t>Conclusion</a:t>
            </a:r>
            <a:endParaRPr lang="en-IN" sz="28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0651C12-039B-1278-40F7-CB7D6D02B88E}"/>
              </a:ext>
            </a:extLst>
          </p:cNvPr>
          <p:cNvSpPr>
            <a:spLocks noGrp="1"/>
          </p:cNvSpPr>
          <p:nvPr>
            <p:ph type="sldNum" sz="quarter" idx="12"/>
          </p:nvPr>
        </p:nvSpPr>
        <p:spPr/>
        <p:txBody>
          <a:bodyPr/>
          <a:lstStyle/>
          <a:p>
            <a:fld id="{48F63A3B-78C7-47BE-AE5E-E10140E04643}" type="slidenum">
              <a:rPr lang="en-US" smtClean="0"/>
              <a:pPr/>
              <a:t>17</a:t>
            </a:fld>
            <a:endParaRPr lang="en-US" dirty="0"/>
          </a:p>
        </p:txBody>
      </p:sp>
      <p:sp>
        <p:nvSpPr>
          <p:cNvPr id="4" name="TextBox 3">
            <a:extLst>
              <a:ext uri="{FF2B5EF4-FFF2-40B4-BE49-F238E27FC236}">
                <a16:creationId xmlns:a16="http://schemas.microsoft.com/office/drawing/2014/main" id="{071A4C0F-43E0-C8B9-153B-D4AB7030C5E0}"/>
              </a:ext>
            </a:extLst>
          </p:cNvPr>
          <p:cNvSpPr txBox="1"/>
          <p:nvPr/>
        </p:nvSpPr>
        <p:spPr>
          <a:xfrm>
            <a:off x="1195431" y="1941507"/>
            <a:ext cx="10104540" cy="3785652"/>
          </a:xfrm>
          <a:prstGeom prst="rect">
            <a:avLst/>
          </a:prstGeom>
          <a:noFill/>
        </p:spPr>
        <p:txBody>
          <a:bodyPr wrap="square" rtlCol="0">
            <a:spAutoFit/>
          </a:bodyPr>
          <a:lstStyle/>
          <a:p>
            <a:pPr algn="just"/>
            <a:r>
              <a:rPr lang="en-US" sz="2000" dirty="0">
                <a:solidFill>
                  <a:schemeClr val="accent6"/>
                </a:solidFill>
                <a:latin typeface="Times New Roman" panose="02020603050405020304" pitchFamily="18" charset="0"/>
                <a:cs typeface="Times New Roman" panose="02020603050405020304" pitchFamily="18" charset="0"/>
              </a:rPr>
              <a:t>This paper presents an AI-based decision support system for the clinical screening of Iron Deficiency </a:t>
            </a:r>
            <a:r>
              <a:rPr lang="en-US" sz="2000" dirty="0" err="1">
                <a:solidFill>
                  <a:schemeClr val="accent6"/>
                </a:solidFill>
                <a:latin typeface="Times New Roman" panose="02020603050405020304" pitchFamily="18" charset="0"/>
                <a:cs typeface="Times New Roman" panose="02020603050405020304" pitchFamily="18" charset="0"/>
              </a:rPr>
              <a:t>Anaemia</a:t>
            </a:r>
            <a:r>
              <a:rPr lang="en-US" sz="2000" dirty="0">
                <a:solidFill>
                  <a:schemeClr val="accent6"/>
                </a:solidFill>
                <a:latin typeface="Times New Roman" panose="02020603050405020304" pitchFamily="18" charset="0"/>
                <a:cs typeface="Times New Roman" panose="02020603050405020304" pitchFamily="18" charset="0"/>
              </a:rPr>
              <a:t> (IDA) and Thalassemia using peripheral blood smear images. The proposed approach uses Convolutional Neural Networks (CNNs) and transfer learning to automatically extract key red blood cell features, such as size, shape, and texture, eliminating the need for manual feature engineering. The system demonstrates reliable performance with around 74% accuracy and balanced precision, recall, and F1-score, making it suitable for practical screening purposes. Additionally, integrating Explainable AI techniques such as Grad-CAM enhances transparency by highlighting the regions that influence the model’s predictions, thereby increasing trust among medical professionals. Overall, the framework reduces manual effort, minimizes diagnostic errors, and provides a fast, scalable, and efficient solution, especially beneficial in resource-limited and rural healthcare settings, while supporting doctors in making better and timely clinical decisions.</a:t>
            </a:r>
            <a:endParaRPr lang="en-US" sz="2000" kern="1200" dirty="0">
              <a:solidFill>
                <a:schemeClr val="accent6"/>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28823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F89D8-6911-B634-0563-C116243F24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D71107-801C-24D5-42C5-B643B687F82A}"/>
              </a:ext>
            </a:extLst>
          </p:cNvPr>
          <p:cNvSpPr>
            <a:spLocks noGrp="1"/>
          </p:cNvSpPr>
          <p:nvPr>
            <p:ph type="ctrTitle"/>
          </p:nvPr>
        </p:nvSpPr>
        <p:spPr>
          <a:xfrm>
            <a:off x="2899790" y="810227"/>
            <a:ext cx="6392421" cy="3831221"/>
          </a:xfrm>
        </p:spPr>
        <p:txBody>
          <a:bodyPr anchor="ctr"/>
          <a:lstStyle/>
          <a:p>
            <a:r>
              <a:rPr lang="en-US" dirty="0"/>
              <a:t>Thank you</a:t>
            </a:r>
          </a:p>
        </p:txBody>
      </p:sp>
    </p:spTree>
    <p:extLst>
      <p:ext uri="{BB962C8B-B14F-4D97-AF65-F5344CB8AC3E}">
        <p14:creationId xmlns:p14="http://schemas.microsoft.com/office/powerpoint/2010/main" val="1597743871"/>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2.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{FE75D649-A0FC-4AB2-A553-1B2862D2255F}TF8a9b5915-b8c7-461e-8cdd-693d48b5e32371f7b7e2_win32-4bf0b9a2ea37</Template>
  <TotalTime>976</TotalTime>
  <Words>1280</Words>
  <Application>Microsoft Office PowerPoint</Application>
  <PresentationFormat>Widescreen</PresentationFormat>
  <Paragraphs>166</Paragraphs>
  <Slides>18</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Arial Black</vt:lpstr>
      <vt:lpstr>Calibri</vt:lpstr>
      <vt:lpstr>Sabon Next LT</vt:lpstr>
      <vt:lpstr>Times New Roman</vt:lpstr>
      <vt:lpstr>Wingdings</vt:lpstr>
      <vt:lpstr>Custom</vt:lpstr>
      <vt:lpstr>Department of computer science &amp; engineering  (data science)</vt:lpstr>
      <vt:lpstr>contents</vt:lpstr>
      <vt:lpstr>Problem statment</vt:lpstr>
      <vt:lpstr>Abstract</vt:lpstr>
      <vt:lpstr>Literature review</vt:lpstr>
      <vt:lpstr>PowerPoint Presentation</vt:lpstr>
      <vt:lpstr>PowerPoint Presentation</vt:lpstr>
      <vt:lpstr>design</vt:lpstr>
      <vt:lpstr>PowerPoint Presentation</vt:lpstr>
      <vt:lpstr>PowerPoint Presentation</vt:lpstr>
      <vt:lpstr>PowerPoint Presentation</vt:lpstr>
      <vt:lpstr>methodology</vt:lpstr>
      <vt:lpstr>Implementation</vt:lpstr>
      <vt:lpstr>                                         Applications </vt:lpstr>
      <vt:lpstr>Training Accuracy of Deep Learning–Based Anemia Screening Model </vt:lpstr>
      <vt:lpstr>Blood smear images detection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Vishnu Vardhini Posa</dc:creator>
  <cp:lastModifiedBy>ravella asritha</cp:lastModifiedBy>
  <cp:revision>5</cp:revision>
  <dcterms:created xsi:type="dcterms:W3CDTF">2026-02-17T14:04:47Z</dcterms:created>
  <dcterms:modified xsi:type="dcterms:W3CDTF">2026-04-24T05:10:56Z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